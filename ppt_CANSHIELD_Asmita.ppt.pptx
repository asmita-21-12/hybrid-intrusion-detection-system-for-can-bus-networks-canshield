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/>
          <p:nvPr/>
        </p:nvPicPr>
        <p:blipFill>
          <a:blip r:embed="rId2"/>
          <a:stretch/>
        </p:blipFill>
        <p:spPr>
          <a:xfrm>
            <a:off x="10226160" y="0"/>
            <a:ext cx="1965960" cy="56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/>
          <p:cNvPicPr/>
          <p:nvPr/>
        </p:nvPicPr>
        <p:blipFill>
          <a:blip r:embed="rId2"/>
          <a:stretch/>
        </p:blipFill>
        <p:spPr>
          <a:xfrm>
            <a:off x="10162440" y="0"/>
            <a:ext cx="1998000" cy="57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/>
          <p:nvPr/>
        </p:nvPicPr>
        <p:blipFill>
          <a:blip r:embed="rId1"/>
          <a:stretch/>
        </p:blipFill>
        <p:spPr>
          <a:xfrm>
            <a:off x="-6120" y="0"/>
            <a:ext cx="12192120" cy="573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"/>
          <p:cNvPicPr/>
          <p:nvPr/>
        </p:nvPicPr>
        <p:blipFill>
          <a:blip r:embed="rId2"/>
          <a:stretch/>
        </p:blipFill>
        <p:spPr>
          <a:xfrm>
            <a:off x="3626280" y="250920"/>
            <a:ext cx="4939560" cy="1033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" name=""/>
          <p:cNvGrpSpPr/>
          <p:nvPr/>
        </p:nvGrpSpPr>
        <p:grpSpPr>
          <a:xfrm>
            <a:off x="-18720" y="4478040"/>
            <a:ext cx="12204720" cy="2380320"/>
            <a:chOff x="-18720" y="4478040"/>
            <a:chExt cx="12204720" cy="2380320"/>
          </a:xfrm>
        </p:grpSpPr>
        <p:sp>
          <p:nvSpPr>
            <p:cNvPr id="11" name=""/>
            <p:cNvSpPr/>
            <p:nvPr/>
          </p:nvSpPr>
          <p:spPr>
            <a:xfrm>
              <a:off x="-18720" y="4478040"/>
              <a:ext cx="12204720" cy="2380320"/>
            </a:xfrm>
            <a:custGeom>
              <a:avLst/>
              <a:gdLst/>
              <a:ahLst/>
              <a:rect l="0" t="0" r="r" b="b"/>
              <a:pathLst>
                <a:path w="33902" h="6612">
                  <a:moveTo>
                    <a:pt x="0" y="0"/>
                  </a:moveTo>
                  <a:lnTo>
                    <a:pt x="33902" y="0"/>
                  </a:lnTo>
                  <a:lnTo>
                    <a:pt x="33902" y="6612"/>
                  </a:lnTo>
                  <a:lnTo>
                    <a:pt x="0" y="6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3634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 txBox="1"/>
            <p:nvPr/>
          </p:nvSpPr>
          <p:spPr>
            <a:xfrm>
              <a:off x="27000" y="4478040"/>
              <a:ext cx="12112920" cy="23799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 algn="ctr" rtl="1"/>
              <a:r>
                <a:rPr lang="en-US" sz="3600" b="1" u="none" strike="noStrike">
                  <a:solidFill>
                    <a:srgbClr val="FFFFFF"/>
                  </a:solidFill>
                  <a:effectLst/>
                  <a:uFillTx/>
                  <a:latin typeface="TimesNewRomanPS-BoldMT"/>
                  <a:ea typeface="TimesNewRomanPS-BoldMT"/>
                </a:rPr>
                <a:t>Name :Asmita Makwana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rtl="1"/>
              <a:r>
                <a:rPr lang="en-US" sz="3600" b="1" u="none" strike="noStrike">
                  <a:solidFill>
                    <a:srgbClr val="FFFFFF"/>
                  </a:solidFill>
                  <a:effectLst/>
                  <a:uFillTx/>
                  <a:latin typeface="TimesNewRomanPS-BoldMT"/>
                  <a:ea typeface="TimesNewRomanPS-BoldMT"/>
                </a:rPr>
                <a:t>Enrollment No:2201030700021 Branch: CSE(CS)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" name=""/>
          <p:cNvSpPr txBox="1"/>
          <p:nvPr/>
        </p:nvSpPr>
        <p:spPr>
          <a:xfrm>
            <a:off x="1041480" y="1308240"/>
            <a:ext cx="10580400" cy="2938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5400" b="1" u="none" strike="noStrike">
                <a:solidFill>
                  <a:srgbClr val="632422"/>
                </a:solidFill>
                <a:effectLst/>
                <a:uFillTx/>
                <a:latin typeface="TimesNewRomanPS-BoldMT"/>
                <a:ea typeface="TimesNewRomanPS-BoldMT"/>
              </a:rPr>
              <a:t>Major Project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rtl="1"/>
            <a:r>
              <a:rPr lang="en-US" sz="3200" b="1" u="none" strike="noStrike">
                <a:solidFill>
                  <a:srgbClr val="632422"/>
                </a:solidFill>
                <a:effectLst/>
                <a:uFillTx/>
                <a:latin typeface="TimesNewRomanPS-BoldMT"/>
                <a:ea typeface="TimesNewRomanPS-BoldMT"/>
              </a:rPr>
              <a:t>1010073492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rtl="1"/>
            <a:r>
              <a:rPr lang="en-US" sz="5400" b="1" u="none" strike="noStrike">
                <a:solidFill>
                  <a:srgbClr val="632422"/>
                </a:solidFill>
                <a:effectLst/>
                <a:uFillTx/>
                <a:latin typeface="TimesNewRomanPS-BoldMT"/>
                <a:ea typeface="TimesNewRomanPS-BoldMT"/>
              </a:rPr>
              <a:t>ML based IDS for Automotive CAN Bus Network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/>
          <p:cNvPicPr/>
          <p:nvPr/>
        </p:nvPicPr>
        <p:blipFill>
          <a:blip r:embed="rId3"/>
          <a:stretch/>
        </p:blipFill>
        <p:spPr>
          <a:xfrm>
            <a:off x="10769760" y="56160"/>
            <a:ext cx="1422360" cy="71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609480" y="27468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Index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609480" y="1600200"/>
            <a:ext cx="109728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17240" indent="-417240" rtl="1">
              <a:lnSpc>
                <a:spcPct val="90000"/>
              </a:lnSpc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Introduction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lnSpc>
                <a:spcPct val="90000"/>
              </a:lnSpc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Background and Motivation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lnSpc>
                <a:spcPct val="90000"/>
              </a:lnSpc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Relevance and Importance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lnSpc>
                <a:spcPct val="90000"/>
              </a:lnSpc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Literature review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lnSpc>
                <a:spcPct val="90000"/>
              </a:lnSpc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Objectives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lnSpc>
                <a:spcPct val="90000"/>
              </a:lnSpc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Required Tools and Technology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lnSpc>
                <a:spcPct val="90000"/>
              </a:lnSpc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Method/ Approach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17240" indent="-417240" rtl="1">
              <a:lnSpc>
                <a:spcPct val="90000"/>
              </a:lnSpc>
              <a:spcBef>
                <a:spcPts val="768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Bibliography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655200" y="6356520"/>
            <a:ext cx="275328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23-01-2026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 txBox="1"/>
          <p:nvPr/>
        </p:nvSpPr>
        <p:spPr>
          <a:xfrm>
            <a:off x="609480" y="27468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Introduction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803160" y="1481760"/>
            <a:ext cx="10585440" cy="450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p>
            <a:pPr algn="just">
              <a:spcAft>
                <a:spcPts val="1199"/>
              </a:spcAf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Modern vehicles use the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Controller Area Network (CAN) Bus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to allow Electronic Control Units (ECUs) to communicate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with each other. CAN enables real-time data exchange for critical functions like braking, steering, engine control, and speed monitoring.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Aft>
                <a:spcPts val="1199"/>
              </a:spcAf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However, CAN was designed for performance and reliability, not security. It does not provide encryption, authentication, or sender verification. As a result, vehicles are vulnerable to cyber attacks such as message injection, replay attacks, and denial-of-service (DoS).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To address CAN bus security issues, researchers have proposed solutions such as encryption techniques, gateway firewalls, and rule-based Intrusion Detection Systems (IDS). However, encryption is difficult to implement in real-time automotive systems, and rule-based IDS can only detect known attacks while struggling with new or unknown threats. Recently, Machine Learning-based IDS approaches have been explored to automatically learn normal CAN traffic behavior and detect anomalies. Our project aims to develop a lightweight and accurate ML-based IDS that analyzes message frequency, timing, and payload patterns to detect and classify attacks efficiently, helping bridge the gap between research models and practical vehicle deployment.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55200" y="6356520"/>
            <a:ext cx="275328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23-01-2026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 txBox="1"/>
          <p:nvPr/>
        </p:nvSpPr>
        <p:spPr>
          <a:xfrm>
            <a:off x="609480" y="27468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Background and Motivation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09480" y="1600200"/>
            <a:ext cx="109728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19999"/>
          </a:bodyPr>
          <a:p>
            <a:pPr algn="just">
              <a:spcAft>
                <a:spcPts val="1494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Background of Current Research Work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CAN bus is widely used for in-vehicle communication and it is vulnerable to injection, replay, and DoS attacks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Existing research focuses on: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6880" lvl="1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Rule-based IDS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6880" lvl="1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Statistical methods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6880" lvl="1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ML/DL-based intrusion detection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Challenges remain in real-time use, false positives, and ECU limitations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Aft>
                <a:spcPts val="1494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Motivation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Increase in connected and autonomous vehicles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Rising automotive cyber threats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Replacing CAN protocol is impractical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Need for lightweight and accurate security solution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ML-based IDS can detect known and unknown attacks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655200" y="6356520"/>
            <a:ext cx="275328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23-01-2026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 txBox="1"/>
          <p:nvPr/>
        </p:nvSpPr>
        <p:spPr>
          <a:xfrm>
            <a:off x="609480" y="27468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Relevance and Importance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09480" y="1600200"/>
            <a:ext cx="109728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algn="just">
              <a:spcAft>
                <a:spcPts val="1403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Who It Is Relevant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Automotive manufacturers (OEMs)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Embedded system engineers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Autonomous and connected vehicle developers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Aft>
                <a:spcPts val="1403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Why This Research Is Worth Doing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Vehicles are becoming highly connected and vulnerable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Traditional security methods are insufficient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Real-time attack detection can prevent safety-critical failures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Enhances overall vehicle safety and trust in smart mobility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655200" y="6356520"/>
            <a:ext cx="275328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23-01-2026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 txBox="1"/>
          <p:nvPr/>
        </p:nvSpPr>
        <p:spPr>
          <a:xfrm>
            <a:off x="609480" y="27468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Literature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 review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09480" y="1600200"/>
            <a:ext cx="109728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Recent research shows that CAN bus lacks built-in security, and while cryptographic solutions exist, they are difficult to implement due to real-time and hardware constraints.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Research has shifted from rule-based IDS to Machine Learning and Deep Learning models (LSTM, CNN, Random Forest) that learn CAN traffic patterns and achieve high detection accuracy.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Hybrid and feature-rich models are being developed to improve detection of both known and unknown attacks.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Lightweight and real-time IDS solutions are now a major focus to ensure practical deployment in embedded automotive 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Despite high experimental accuracy, challenges remain in dataset imbalance, real-world testing, and reducing false positives — making this research area highly important and still evolving.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55200" y="6356520"/>
            <a:ext cx="275328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23-01-2026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 txBox="1"/>
          <p:nvPr/>
        </p:nvSpPr>
        <p:spPr>
          <a:xfrm>
            <a:off x="609480" y="27468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Objectives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609480" y="1600200"/>
            <a:ext cx="109728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algn="just">
              <a:spcAft>
                <a:spcPts val="1494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Aim of the Research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Aft>
                <a:spcPts val="1199"/>
              </a:spcAf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To design and implement a lightweight and efficient Machine Learning-based Intrusion Detection System (IDS) for automotive CAN bus networks.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Aft>
                <a:spcPts val="1494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Objectives of the Research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 analyze vulnerabilities in the CAN bus communication protocol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 preprocess and extract meaningful features from CAN traffic datasets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 implement and compare ML models (e.g., Random Forest, SVM, LSTM)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 achieve high detection accuracy with low false positives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 develop a lightweight and real-time capable IDS suitable for in-vehicle deployment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 evaluate system performance using standard metrics (Accuracy, Precision, Recall, F1-score)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55200" y="6356520"/>
            <a:ext cx="275328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23-01-2026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 txBox="1"/>
          <p:nvPr/>
        </p:nvSpPr>
        <p:spPr>
          <a:xfrm>
            <a:off x="609480" y="27468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Required Tools and Technology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09480" y="1600200"/>
            <a:ext cx="109728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p>
            <a:pPr algn="just">
              <a:spcAft>
                <a:spcPts val="1403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Programming &amp; ML Frameworks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C -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For project development and to work on ECU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Python- To train models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ML models - Random Forest,Isolation forest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Aft>
                <a:spcPts val="1403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Datasets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Car Hacking CAN Dataset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IEEE CAN Bus Datasets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Public benchmark datasets used in recent research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Aft>
                <a:spcPts val="1403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Feature &amp; Analysis Tools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Timing, frequency, and payload-based feature extraction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Entropy and statistical analysis techniques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Aft>
                <a:spcPts val="1403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Simulation &amp; Testing Tools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CANoe / CANalyzer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 – CAN traffic simulation and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SocketCAN (Linux)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 – CAN message handling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Aft>
                <a:spcPts val="1403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Deployment &amp; Platforms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9680" indent="-2700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Raspberry Pi / Edge devices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 – Real-time IDS testing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55200" y="6356520"/>
            <a:ext cx="275328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23-01-2026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 txBox="1"/>
          <p:nvPr/>
        </p:nvSpPr>
        <p:spPr>
          <a:xfrm>
            <a:off x="609480" y="27468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Method/ Approach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609480" y="1600200"/>
            <a:ext cx="109728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algn="just">
              <a:spcAft>
                <a:spcPts val="1199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Data Collection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 Use benchmark CAN bus datasets containing normal and attack traffic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Aft>
                <a:spcPts val="1199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Data Preprocessing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 Clean data, remove noise, label classes, and normalize features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Aft>
                <a:spcPts val="1199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Feature Extraction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 Extract important features such as message ID frequency, inter-arrival time, and payload patterns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Aft>
                <a:spcPts val="1199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Model Development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 Train Machine Learning models (e.g., Random Forest, SVM, LSTM) for attack detection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Aft>
                <a:spcPts val="1199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Model Evaluation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 Evaluate using accuracy, precision, recall, F1-score, and false positive rate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Aft>
                <a:spcPts val="1199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Optimization for Real-Time Use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 Select lightweight model suitable for embedded automotive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655200" y="6356520"/>
            <a:ext cx="275328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23-01-2026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 txBox="1"/>
          <p:nvPr/>
        </p:nvSpPr>
        <p:spPr>
          <a:xfrm>
            <a:off x="609480" y="27468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/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Bibliography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609480" y="1600200"/>
            <a:ext cx="109728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19999"/>
          </a:bodyPr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Rai et al.,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Deep Learning-Based CAN Bus Intrusion Detection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, Scientific Reports, 2025.[1]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Yang &amp; Effatparvar,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Triple-Attention Deep Learning IDS for CAN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, Scientific Reports, 2025.[2]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Zhao et al.,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Lightweight DSC-KAN Model for CAN IDS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, Scientific Reports, 2025.[3]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Transformer-Autoencoder Model for In-Vehicle IDS, Expert Systems with Applications, 2024.[4]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Nazeer et al.,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Hybrid XGBoost-Deep Learning IDS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, Journal of Engineering Science and Technology, 2024.[5]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IDS-DEC Deep Embedded Clustering Approach, Journal of King Saud University – Computer and Information Sciences, 2024.[5]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Baldini et al.,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Multi-scale Histogram CNN-based IDS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, Information, 2024.[6]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Le &amp; Alsmadi,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Realistic Evaluation of CAN IDS Models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, Computers, 2026.[7]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GNN-based In-Vehicle IDS Research, IEEE Transactions on Intelligent Transportation Systems, 2025.[8]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Edge-Optimized CAN IDS Models, Vehicular Communications, 2025.[9]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CICIoV2024 Dataset Evaluation Studies, IEEE Access, 2025.[10]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Explainable IDS and Feature Importance for CAN Bus, Sensors, 2025.[11]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655200" y="6356520"/>
            <a:ext cx="275328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878787"/>
                </a:solidFill>
                <a:effectLst/>
                <a:uFillTx/>
                <a:latin typeface="Calibri"/>
                <a:ea typeface="Calibri"/>
              </a:rPr>
              <a:t>23-01-2026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